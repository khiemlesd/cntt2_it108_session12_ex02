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3687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Bốn chức năng chính của Lớp học ảo, tương ứng mục 4 trong tài liệu SRS-VA-01.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Bước 4 được nhấn bằng màu cam vì đây là nơi tính năng Lớp học ảo xuất hiện.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Y_3_ZONES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PTIT-Learning  |  SRS-VA-01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0" y="4617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www.ptitlearning.vn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617720"/>
            <a:ext cx="2743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9D6E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617720"/>
            <a:ext cx="2743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9D6E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A1A"/>
                </a:solidFill>
              </a:rPr>
              <a:t>TÍNH NĂNG MỚI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Lớp học ảo cho mọi học viên</a:t>
            </a:r>
            <a:endParaRPr lang="en-US" sz="3200" dirty="0"/>
          </a:p>
        </p:txBody>
      </p:sp>
      <p:sp>
        <p:nvSpPr>
          <p:cNvPr id="4" name="Card 1"/>
          <p:cNvSpPr/>
          <p:nvPr/>
        </p:nvSpPr>
        <p:spPr>
          <a:xfrm>
            <a:off x="457200" y="1691640"/>
            <a:ext cx="1892808" cy="2468880"/>
          </a:xfrm>
          <a:prstGeom prst="roundRect">
            <a:avLst>
              <a:gd name="adj" fmla="val 5797"/>
            </a:avLst>
          </a:prstGeom>
          <a:solidFill>
            <a:srgbClr val="15315C"/>
          </a:solidFill>
          <a:ln w="12700">
            <a:solidFill>
              <a:srgbClr val="15315C"/>
            </a:solidFill>
            <a:prstDash val="solid"/>
          </a:ln>
        </p:spPr>
      </p:sp>
      <p:sp>
        <p:nvSpPr>
          <p:cNvPr id="5" name="Badge 1"/>
          <p:cNvSpPr/>
          <p:nvPr/>
        </p:nvSpPr>
        <p:spPr>
          <a:xfrm>
            <a:off x="685800" y="1920240"/>
            <a:ext cx="548640" cy="54864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51760"/>
            <a:ext cx="1435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Video HD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337560"/>
            <a:ext cx="1435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D6EA"/>
                </a:solidFill>
              </a:rPr>
              <a:t>Nhiều người cùng học trong một buổi</a:t>
            </a:r>
            <a:endParaRPr lang="en-US" sz="1400" dirty="0"/>
          </a:p>
        </p:txBody>
      </p:sp>
      <p:sp>
        <p:nvSpPr>
          <p:cNvPr id="9" name="Card 2"/>
          <p:cNvSpPr/>
          <p:nvPr/>
        </p:nvSpPr>
        <p:spPr>
          <a:xfrm>
            <a:off x="2569464" y="1691640"/>
            <a:ext cx="1892808" cy="2468880"/>
          </a:xfrm>
          <a:prstGeom prst="roundRect">
            <a:avLst>
              <a:gd name="adj" fmla="val 5797"/>
            </a:avLst>
          </a:prstGeom>
          <a:solidFill>
            <a:srgbClr val="15315C"/>
          </a:solidFill>
          <a:ln w="12700">
            <a:solidFill>
              <a:srgbClr val="15315C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2798064" y="1920240"/>
            <a:ext cx="548640" cy="54864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98064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798064" y="2651760"/>
            <a:ext cx="1435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Chia sẻ màn hình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798064" y="3337560"/>
            <a:ext cx="1435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D6EA"/>
                </a:solidFill>
              </a:rPr>
              <a:t>Giảng viên trình chiếu bài giảng và tài liệu</a:t>
            </a:r>
            <a:endParaRPr lang="en-US" sz="1400" dirty="0"/>
          </a:p>
        </p:txBody>
      </p:sp>
      <p:sp>
        <p:nvSpPr>
          <p:cNvPr id="14" name="Card 3"/>
          <p:cNvSpPr/>
          <p:nvPr/>
        </p:nvSpPr>
        <p:spPr>
          <a:xfrm>
            <a:off x="4681728" y="1691640"/>
            <a:ext cx="1892808" cy="2468880"/>
          </a:xfrm>
          <a:prstGeom prst="roundRect">
            <a:avLst>
              <a:gd name="adj" fmla="val 5797"/>
            </a:avLst>
          </a:prstGeom>
          <a:solidFill>
            <a:srgbClr val="15315C"/>
          </a:solidFill>
          <a:ln w="12700">
            <a:solidFill>
              <a:srgbClr val="15315C"/>
            </a:solidFill>
            <a:prstDash val="solid"/>
          </a:ln>
        </p:spPr>
      </p:sp>
      <p:sp>
        <p:nvSpPr>
          <p:cNvPr id="15" name="Badge 3"/>
          <p:cNvSpPr/>
          <p:nvPr/>
        </p:nvSpPr>
        <p:spPr>
          <a:xfrm>
            <a:off x="4910328" y="1920240"/>
            <a:ext cx="548640" cy="54864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10328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910328" y="2651760"/>
            <a:ext cx="1435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Bảng trắng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910328" y="3337560"/>
            <a:ext cx="1435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D6EA"/>
                </a:solidFill>
              </a:rPr>
              <a:t>Cả lớp cùng viết và ghi chú</a:t>
            </a:r>
            <a:endParaRPr lang="en-US" sz="1400" dirty="0"/>
          </a:p>
        </p:txBody>
      </p:sp>
      <p:sp>
        <p:nvSpPr>
          <p:cNvPr id="19" name="Card 4"/>
          <p:cNvSpPr/>
          <p:nvPr/>
        </p:nvSpPr>
        <p:spPr>
          <a:xfrm>
            <a:off x="6793992" y="1691640"/>
            <a:ext cx="1892808" cy="2468880"/>
          </a:xfrm>
          <a:prstGeom prst="roundRect">
            <a:avLst>
              <a:gd name="adj" fmla="val 5797"/>
            </a:avLst>
          </a:prstGeom>
          <a:solidFill>
            <a:srgbClr val="15315C"/>
          </a:solidFill>
          <a:ln w="12700">
            <a:solidFill>
              <a:srgbClr val="15315C"/>
            </a:solidFill>
            <a:prstDash val="solid"/>
          </a:ln>
        </p:spPr>
      </p:sp>
      <p:sp>
        <p:nvSpPr>
          <p:cNvPr id="20" name="Badge 4"/>
          <p:cNvSpPr/>
          <p:nvPr/>
        </p:nvSpPr>
        <p:spPr>
          <a:xfrm>
            <a:off x="7022592" y="1920240"/>
            <a:ext cx="548640" cy="54864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22592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022592" y="2651760"/>
            <a:ext cx="1435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Ghi hình và chat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022592" y="3337560"/>
            <a:ext cx="1435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D6EA"/>
                </a:solidFill>
              </a:rPr>
              <a:t>Xem lại buổi học, hỏi đáp trực tiếp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617720"/>
            <a:ext cx="2743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9D6E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A1A"/>
                </a:solidFill>
              </a:rPr>
              <a:t>LỘ TRÌNH HỌC TẬP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Từ đăng ký đến nhận chứng chỉ</a:t>
            </a:r>
            <a:endParaRPr lang="en-US" sz="3200" dirty="0"/>
          </a:p>
        </p:txBody>
      </p:sp>
      <p:sp>
        <p:nvSpPr>
          <p:cNvPr id="4" name="Step 1"/>
          <p:cNvSpPr/>
          <p:nvPr/>
        </p:nvSpPr>
        <p:spPr>
          <a:xfrm>
            <a:off x="457200" y="1828800"/>
            <a:ext cx="1143000" cy="914400"/>
          </a:xfrm>
          <a:prstGeom prst="roundRect">
            <a:avLst>
              <a:gd name="adj" fmla="val 10000"/>
            </a:avLst>
          </a:prstGeom>
          <a:solidFill>
            <a:srgbClr val="15315C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82880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Đăng ký tài khoản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4582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7A1A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926080"/>
            <a:ext cx="1143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9D6EA"/>
                </a:solidFill>
              </a:rPr>
              <a:t>Từ Website, Facebook Ads, Google Form hoặc Zalo OA</a:t>
            </a:r>
            <a:endParaRPr lang="en-US" sz="1200" dirty="0"/>
          </a:p>
        </p:txBody>
      </p:sp>
      <p:sp>
        <p:nvSpPr>
          <p:cNvPr id="8" name="Arrow 1"/>
          <p:cNvSpPr/>
          <p:nvPr/>
        </p:nvSpPr>
        <p:spPr>
          <a:xfrm>
            <a:off x="1627632" y="2286000"/>
            <a:ext cx="219456" cy="0"/>
          </a:xfrm>
          <a:prstGeom prst="line">
            <a:avLst/>
          </a:prstGeom>
          <a:noFill/>
          <a:ln w="25400">
            <a:solidFill>
              <a:srgbClr val="FF7A1A"/>
            </a:solidFill>
            <a:prstDash val="solid"/>
            <a:tailEnd type="triangle"/>
          </a:ln>
        </p:spPr>
      </p:sp>
      <p:sp>
        <p:nvSpPr>
          <p:cNvPr id="9" name="Step 2"/>
          <p:cNvSpPr/>
          <p:nvPr/>
        </p:nvSpPr>
        <p:spPr>
          <a:xfrm>
            <a:off x="1874520" y="1828800"/>
            <a:ext cx="1143000" cy="914400"/>
          </a:xfrm>
          <a:prstGeom prst="roundRect">
            <a:avLst>
              <a:gd name="adj" fmla="val 10000"/>
            </a:avLst>
          </a:prstGeom>
          <a:solidFill>
            <a:srgbClr val="15315C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20240" y="182880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Xác nhận email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6314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7A1A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2926080"/>
            <a:ext cx="1143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9D6EA"/>
                </a:solidFill>
              </a:rPr>
              <a:t>Trạng thái chuyển sang Đã xác nhận</a:t>
            </a:r>
            <a:endParaRPr lang="en-US" sz="1200" dirty="0"/>
          </a:p>
        </p:txBody>
      </p:sp>
      <p:sp>
        <p:nvSpPr>
          <p:cNvPr id="13" name="Arrow 2"/>
          <p:cNvSpPr/>
          <p:nvPr/>
        </p:nvSpPr>
        <p:spPr>
          <a:xfrm>
            <a:off x="3044952" y="2286000"/>
            <a:ext cx="219456" cy="0"/>
          </a:xfrm>
          <a:prstGeom prst="line">
            <a:avLst/>
          </a:prstGeom>
          <a:noFill/>
          <a:ln w="25400">
            <a:solidFill>
              <a:srgbClr val="FF7A1A"/>
            </a:solidFill>
            <a:prstDash val="solid"/>
            <a:tailEnd type="triangle"/>
          </a:ln>
        </p:spPr>
      </p:sp>
      <p:sp>
        <p:nvSpPr>
          <p:cNvPr id="14" name="Step 3"/>
          <p:cNvSpPr/>
          <p:nvPr/>
        </p:nvSpPr>
        <p:spPr>
          <a:xfrm>
            <a:off x="3291840" y="1828800"/>
            <a:ext cx="1143000" cy="914400"/>
          </a:xfrm>
          <a:prstGeom prst="roundRect">
            <a:avLst>
              <a:gd name="adj" fmla="val 10000"/>
            </a:avLst>
          </a:prstGeom>
          <a:solidFill>
            <a:srgbClr val="15315C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37560" y="182880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Chọn khóa học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68046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7A1A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2926080"/>
            <a:ext cx="1143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9D6EA"/>
                </a:solidFill>
              </a:rPr>
              <a:t>Lọc theo khoa và trình độ</a:t>
            </a:r>
            <a:endParaRPr lang="en-US" sz="1200" dirty="0"/>
          </a:p>
        </p:txBody>
      </p:sp>
      <p:sp>
        <p:nvSpPr>
          <p:cNvPr id="18" name="Arrow 3"/>
          <p:cNvSpPr/>
          <p:nvPr/>
        </p:nvSpPr>
        <p:spPr>
          <a:xfrm>
            <a:off x="4462272" y="2286000"/>
            <a:ext cx="219456" cy="0"/>
          </a:xfrm>
          <a:prstGeom prst="line">
            <a:avLst/>
          </a:prstGeom>
          <a:noFill/>
          <a:ln w="25400">
            <a:solidFill>
              <a:srgbClr val="FF7A1A"/>
            </a:solidFill>
            <a:prstDash val="solid"/>
            <a:tailEnd type="triangle"/>
          </a:ln>
        </p:spPr>
      </p:sp>
      <p:sp>
        <p:nvSpPr>
          <p:cNvPr id="19" name="Step 4"/>
          <p:cNvSpPr/>
          <p:nvPr/>
        </p:nvSpPr>
        <p:spPr>
          <a:xfrm>
            <a:off x="4709160" y="1828800"/>
            <a:ext cx="1143000" cy="914400"/>
          </a:xfrm>
          <a:prstGeom prst="roundRect">
            <a:avLst>
              <a:gd name="adj" fmla="val 10000"/>
            </a:avLst>
          </a:prstGeom>
          <a:solidFill>
            <a:srgbClr val="FF7A1A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54880" y="182880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Vào lớp học ảo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09778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7A1A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2926080"/>
            <a:ext cx="1143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9D6EA"/>
                </a:solidFill>
              </a:rPr>
              <a:t>Học trực tuyến theo lịch</a:t>
            </a:r>
            <a:endParaRPr lang="en-US" sz="1200" dirty="0"/>
          </a:p>
        </p:txBody>
      </p:sp>
      <p:sp>
        <p:nvSpPr>
          <p:cNvPr id="23" name="Arrow 4"/>
          <p:cNvSpPr/>
          <p:nvPr/>
        </p:nvSpPr>
        <p:spPr>
          <a:xfrm>
            <a:off x="5879592" y="2286000"/>
            <a:ext cx="219456" cy="0"/>
          </a:xfrm>
          <a:prstGeom prst="line">
            <a:avLst/>
          </a:prstGeom>
          <a:noFill/>
          <a:ln w="25400">
            <a:solidFill>
              <a:srgbClr val="FF7A1A"/>
            </a:solidFill>
            <a:prstDash val="solid"/>
            <a:tailEnd type="triangle"/>
          </a:ln>
        </p:spPr>
      </p:sp>
      <p:sp>
        <p:nvSpPr>
          <p:cNvPr id="24" name="Step 5"/>
          <p:cNvSpPr/>
          <p:nvPr/>
        </p:nvSpPr>
        <p:spPr>
          <a:xfrm>
            <a:off x="6126480" y="1828800"/>
            <a:ext cx="1143000" cy="914400"/>
          </a:xfrm>
          <a:prstGeom prst="roundRect">
            <a:avLst>
              <a:gd name="adj" fmla="val 10000"/>
            </a:avLst>
          </a:prstGeom>
          <a:solidFill>
            <a:srgbClr val="15315C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72200" y="182880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Làm bài tập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51510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7A1A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126480" y="2926080"/>
            <a:ext cx="1143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9D6EA"/>
                </a:solidFill>
              </a:rPr>
              <a:t>Nộp bài và nhận điểm</a:t>
            </a:r>
            <a:endParaRPr lang="en-US" sz="1200" dirty="0"/>
          </a:p>
        </p:txBody>
      </p:sp>
      <p:sp>
        <p:nvSpPr>
          <p:cNvPr id="28" name="Arrow 5"/>
          <p:cNvSpPr/>
          <p:nvPr/>
        </p:nvSpPr>
        <p:spPr>
          <a:xfrm>
            <a:off x="7296912" y="2286000"/>
            <a:ext cx="219456" cy="0"/>
          </a:xfrm>
          <a:prstGeom prst="line">
            <a:avLst/>
          </a:prstGeom>
          <a:noFill/>
          <a:ln w="25400">
            <a:solidFill>
              <a:srgbClr val="FF7A1A"/>
            </a:solidFill>
            <a:prstDash val="solid"/>
            <a:tailEnd type="triangle"/>
          </a:ln>
        </p:spPr>
      </p:sp>
      <p:sp>
        <p:nvSpPr>
          <p:cNvPr id="29" name="Step 6"/>
          <p:cNvSpPr/>
          <p:nvPr/>
        </p:nvSpPr>
        <p:spPr>
          <a:xfrm>
            <a:off x="7543800" y="1828800"/>
            <a:ext cx="1143000" cy="914400"/>
          </a:xfrm>
          <a:prstGeom prst="roundRect">
            <a:avLst>
              <a:gd name="adj" fmla="val 10000"/>
            </a:avLst>
          </a:prstGeom>
          <a:solidFill>
            <a:srgbClr val="15315C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89520" y="182880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Nhận chứng chỉ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93242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7A1A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543800" y="2926080"/>
            <a:ext cx="1143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9D6EA"/>
                </a:solidFill>
              </a:rPr>
              <a:t>Khi điểm chuyên cần từ 7 trở lên</a:t>
            </a:r>
            <a:endParaRPr lang="en-US" sz="12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617720"/>
            <a:ext cx="2743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9D6E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</Words>
  <Application>Microsoft Office PowerPoint</Application>
  <PresentationFormat>Trình chiếu Trên màn hình (16:9)</PresentationFormat>
  <Paragraphs>40</Paragraphs>
  <Slides>2</Slides>
  <Notes>2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1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Bản trình bày PowerPoint</vt:lpstr>
      <vt:lpstr>Bản trình bày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PTIT-Learning: tổng quan Lớp học ảo</dc:title>
  <dc:subject>PptxGenJS Presentation</dc:subject>
  <dc:creator>PptxGenJS</dc:creator>
  <cp:lastModifiedBy>Khiêm Lê</cp:lastModifiedBy>
  <cp:revision>1</cp:revision>
  <dcterms:created xsi:type="dcterms:W3CDTF">2026-10-27T00:17:11Z</dcterms:created>
  <dcterms:modified xsi:type="dcterms:W3CDTF">2026-10-27T00:21:01Z</dcterms:modified>
</cp:coreProperties>
</file>